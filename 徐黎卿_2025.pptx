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5" r:id="rId5"/>
    <p:sldId id="259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60" r:id="rId24"/>
    <p:sldId id="261" r:id="rId25"/>
    <p:sldId id="262" r:id="rId26"/>
    <p:sldId id="266" r:id="rId27"/>
    <p:sldId id="267" r:id="rId28"/>
    <p:sldId id="264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BE1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9497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767751" y="975719"/>
            <a:ext cx="10670875" cy="45719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889184" y="6280030"/>
            <a:ext cx="9549441" cy="11214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9" name="Rectangle 88"/>
          <p:cNvSpPr>
            <a:spLocks noChangeArrowheads="1"/>
          </p:cNvSpPr>
          <p:nvPr userDrawn="1"/>
        </p:nvSpPr>
        <p:spPr bwMode="auto">
          <a:xfrm>
            <a:off x="11350738" y="6418055"/>
            <a:ext cx="400050" cy="242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>
              <a:lnSpc>
                <a:spcPct val="111000"/>
              </a:lnSpc>
            </a:pPr>
            <a:fld id="{718899C3-2046-495F-A8D4-75193BF6633A}" type="slidenum">
              <a:rPr lang="de-DE" sz="80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lnSpc>
                  <a:spcPct val="111000"/>
                </a:lnSpc>
              </a:pPr>
              <a:t>‹#›</a:t>
            </a:fld>
            <a:endParaRPr lang="de-DE" sz="800" dirty="0">
              <a:solidFill>
                <a:schemeClr val="accen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 txBox="1">
            <a:spLocks/>
          </p:cNvSpPr>
          <p:nvPr userDrawn="1"/>
        </p:nvSpPr>
        <p:spPr>
          <a:xfrm>
            <a:off x="691896" y="237743"/>
            <a:ext cx="9144000" cy="7210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482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26" y="5750897"/>
            <a:ext cx="1176401" cy="117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313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5.wmf"/><Relationship Id="rId7" Type="http://schemas.openxmlformats.org/officeDocument/2006/relationships/oleObject" Target="../embeddings/oleObject6.bin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2.png"/><Relationship Id="rId4" Type="http://schemas.openxmlformats.org/officeDocument/2006/relationships/image" Target="../media/image2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7.jp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jpeg"/><Relationship Id="rId4" Type="http://schemas.openxmlformats.org/officeDocument/2006/relationships/image" Target="../media/image30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1365179" y="2097586"/>
            <a:ext cx="9144000" cy="986219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en-US" altLang="zh-CN" sz="6600" b="1" dirty="0">
                <a:latin typeface="微软雅黑" pitchFamily="34" charset="-122"/>
                <a:ea typeface="微软雅黑" pitchFamily="34" charset="-122"/>
              </a:rPr>
              <a:t>Transformer</a:t>
            </a:r>
            <a:r>
              <a:rPr lang="zh-CN" altLang="en-US" sz="6600" b="1" dirty="0">
                <a:latin typeface="微软雅黑" pitchFamily="34" charset="-122"/>
                <a:ea typeface="微软雅黑" pitchFamily="34" charset="-122"/>
              </a:rPr>
              <a:t>详解</a:t>
            </a:r>
            <a:endParaRPr lang="zh-CN" altLang="en-US" sz="6600" dirty="0"/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3395472" y="3695699"/>
            <a:ext cx="6242304" cy="98621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8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*主讲人 姓名：徐黎卿</a:t>
            </a:r>
            <a:endParaRPr lang="en-US" altLang="zh-CN" sz="1800" dirty="0">
              <a:solidFill>
                <a:schemeClr val="accen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*主讲人 职务：工程师</a:t>
            </a:r>
            <a:endParaRPr lang="en-US" altLang="zh-CN" sz="1800" dirty="0">
              <a:solidFill>
                <a:schemeClr val="accen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*主讲人 公司：</a:t>
            </a:r>
            <a:r>
              <a:rPr lang="en-US" altLang="zh-CN" sz="18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</a:p>
          <a:p>
            <a:r>
              <a:rPr lang="zh-CN" altLang="en-US" sz="18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*主讲人 手机号：</a:t>
            </a:r>
            <a:r>
              <a:rPr lang="en-US" altLang="zh-CN" sz="18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13501767776</a:t>
            </a:r>
          </a:p>
        </p:txBody>
      </p:sp>
      <p:sp>
        <p:nvSpPr>
          <p:cNvPr id="3" name="矩形 2"/>
          <p:cNvSpPr/>
          <p:nvPr/>
        </p:nvSpPr>
        <p:spPr>
          <a:xfrm>
            <a:off x="3402120" y="5080183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4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*备注：</a:t>
            </a:r>
            <a:endParaRPr lang="en-US" altLang="zh-CN" sz="1400" dirty="0">
              <a:solidFill>
                <a:schemeClr val="accen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以上联系信息 不会 对外公开，仅用于 及时 联系主讲人。</a:t>
            </a:r>
            <a:endParaRPr lang="en-US" altLang="zh-CN" sz="1400" dirty="0">
              <a:solidFill>
                <a:schemeClr val="accen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01622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4294967295"/>
          </p:nvPr>
        </p:nvSpPr>
        <p:spPr>
          <a:xfrm>
            <a:off x="691896" y="1544638"/>
            <a:ext cx="10555224" cy="4261802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一：课程前言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二：特征空间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三：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Transformer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架构详解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四：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Transformer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中译英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五：课程小结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691896" y="237743"/>
            <a:ext cx="9144000" cy="7210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议程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/Agenda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0800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>
          <a:xfrm>
            <a:off x="691896" y="237743"/>
            <a:ext cx="9144000" cy="7210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前言</a:t>
            </a:r>
          </a:p>
        </p:txBody>
      </p:sp>
      <p:sp>
        <p:nvSpPr>
          <p:cNvPr id="5" name="副标题 2"/>
          <p:cNvSpPr>
            <a:spLocks noGrp="1"/>
          </p:cNvSpPr>
          <p:nvPr>
            <p:ph type="subTitle" idx="4294967295"/>
          </p:nvPr>
        </p:nvSpPr>
        <p:spPr>
          <a:xfrm>
            <a:off x="691896" y="1535494"/>
            <a:ext cx="10555224" cy="4261802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特征向量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空间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AutoNum type="arabicPeriod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Transformer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架构。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结合代码学习人工智能。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大模型提升学习效率。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AutoNum type="arabicPeriod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3404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C3E61-FD76-3FA3-E968-77361B929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19C10B-7C80-CC54-785C-5A05EFA031B7}"/>
              </a:ext>
            </a:extLst>
          </p:cNvPr>
          <p:cNvSpPr txBox="1">
            <a:spLocks/>
          </p:cNvSpPr>
          <p:nvPr/>
        </p:nvSpPr>
        <p:spPr>
          <a:xfrm>
            <a:off x="4132680" y="3068478"/>
            <a:ext cx="3521885" cy="7210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特征空间</a:t>
            </a:r>
          </a:p>
        </p:txBody>
      </p:sp>
    </p:spTree>
    <p:extLst>
      <p:ext uri="{BB962C8B-B14F-4D97-AF65-F5344CB8AC3E}">
        <p14:creationId xmlns:p14="http://schemas.microsoft.com/office/powerpoint/2010/main" val="1609568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>
          <a:xfrm>
            <a:off x="691896" y="237743"/>
            <a:ext cx="9144000" cy="7210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特征空间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—What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副标题 2"/>
          <p:cNvSpPr>
            <a:spLocks noGrp="1"/>
          </p:cNvSpPr>
          <p:nvPr>
            <p:ph type="subTitle" idx="4294967295"/>
          </p:nvPr>
        </p:nvSpPr>
        <p:spPr>
          <a:xfrm>
            <a:off x="691896" y="1206631"/>
            <a:ext cx="10555224" cy="442198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人工智能在解决什么问题：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E21F161-FF8E-9DED-953C-ED3A7F7CF8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5511172"/>
              </p:ext>
            </p:extLst>
          </p:nvPr>
        </p:nvGraphicFramePr>
        <p:xfrm>
          <a:off x="1058863" y="2350794"/>
          <a:ext cx="329247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12800" imgH="279360" progId="Equation.DSMT4">
                  <p:embed/>
                </p:oleObj>
              </mc:Choice>
              <mc:Fallback>
                <p:oleObj name="Equation" r:id="rId2" imgW="16128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58863" y="2350794"/>
                        <a:ext cx="3292475" cy="57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B94B658B-F062-6492-A990-8F2D66786087}"/>
              </a:ext>
            </a:extLst>
          </p:cNvPr>
          <p:cNvSpPr txBox="1"/>
          <p:nvPr/>
        </p:nvSpPr>
        <p:spPr>
          <a:xfrm>
            <a:off x="944880" y="3175521"/>
            <a:ext cx="37907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w: </a:t>
            </a:r>
            <a:r>
              <a:rPr lang="zh-CN" altLang="en-US" dirty="0"/>
              <a:t>函数</a:t>
            </a:r>
            <a:r>
              <a:rPr lang="en-US" altLang="zh-CN" dirty="0"/>
              <a:t>(</a:t>
            </a:r>
            <a:r>
              <a:rPr lang="zh-CN" altLang="en-US" dirty="0"/>
              <a:t>模型</a:t>
            </a:r>
            <a:r>
              <a:rPr lang="en-US" altLang="zh-CN" dirty="0"/>
              <a:t>)</a:t>
            </a:r>
            <a:r>
              <a:rPr lang="zh-CN" altLang="en-US" dirty="0"/>
              <a:t>参数</a:t>
            </a:r>
            <a:endParaRPr lang="en-US" altLang="zh-CN" dirty="0"/>
          </a:p>
          <a:p>
            <a:r>
              <a:rPr lang="en-US" altLang="zh-CN" dirty="0"/>
              <a:t>X: </a:t>
            </a:r>
            <a:r>
              <a:rPr lang="zh-CN" altLang="en-US" dirty="0"/>
              <a:t>函数</a:t>
            </a:r>
            <a:r>
              <a:rPr lang="en-US" altLang="zh-CN" dirty="0"/>
              <a:t>(</a:t>
            </a:r>
            <a:r>
              <a:rPr lang="zh-CN" altLang="en-US" dirty="0"/>
              <a:t>模型</a:t>
            </a:r>
            <a:r>
              <a:rPr lang="en-US" altLang="zh-CN" dirty="0"/>
              <a:t>)</a:t>
            </a:r>
            <a:r>
              <a:rPr lang="zh-CN" altLang="en-US" dirty="0"/>
              <a:t>输入，随机变量</a:t>
            </a:r>
            <a:endParaRPr lang="en-US" altLang="zh-CN" dirty="0"/>
          </a:p>
          <a:p>
            <a:r>
              <a:rPr lang="en-US" altLang="zh-CN" dirty="0"/>
              <a:t>f(): </a:t>
            </a:r>
            <a:r>
              <a:rPr lang="zh-CN" altLang="en-US" dirty="0"/>
              <a:t>函数</a:t>
            </a:r>
            <a:r>
              <a:rPr lang="en-US" altLang="zh-CN" dirty="0"/>
              <a:t>(</a:t>
            </a:r>
            <a:r>
              <a:rPr lang="zh-CN" altLang="en-US" dirty="0"/>
              <a:t>模型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J():</a:t>
            </a:r>
            <a:r>
              <a:rPr lang="zh-CN" altLang="en-US" dirty="0"/>
              <a:t> 优化函数，损失函数</a:t>
            </a:r>
            <a:endParaRPr lang="en-US" altLang="zh-CN" dirty="0"/>
          </a:p>
          <a:p>
            <a:r>
              <a:rPr lang="en-US" altLang="zh-CN" dirty="0"/>
              <a:t>E[]:</a:t>
            </a:r>
            <a:r>
              <a:rPr lang="zh-CN" altLang="en-US" dirty="0"/>
              <a:t>函数输出的对于</a:t>
            </a:r>
            <a:r>
              <a:rPr lang="en-US" altLang="zh-CN" dirty="0"/>
              <a:t>X</a:t>
            </a:r>
            <a:r>
              <a:rPr lang="zh-CN" altLang="en-US" dirty="0"/>
              <a:t>的期望</a:t>
            </a:r>
            <a:endParaRPr lang="en-US" altLang="zh-CN" dirty="0"/>
          </a:p>
          <a:p>
            <a:r>
              <a:rPr lang="en-US" altLang="zh-CN" dirty="0"/>
              <a:t>Y: </a:t>
            </a:r>
            <a:r>
              <a:rPr lang="zh-CN" altLang="en-US" dirty="0"/>
              <a:t>函数</a:t>
            </a:r>
            <a:r>
              <a:rPr lang="en-US" altLang="zh-CN" dirty="0"/>
              <a:t>(</a:t>
            </a:r>
            <a:r>
              <a:rPr lang="zh-CN" altLang="en-US" dirty="0"/>
              <a:t>模型</a:t>
            </a:r>
            <a:r>
              <a:rPr lang="en-US" altLang="zh-CN" dirty="0"/>
              <a:t>)</a:t>
            </a:r>
            <a:r>
              <a:rPr lang="zh-CN" altLang="en-US" dirty="0"/>
              <a:t>输出的标签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7341414-CEF0-4C72-DD16-9A648EC5AC88}"/>
              </a:ext>
            </a:extLst>
          </p:cNvPr>
          <p:cNvSpPr txBox="1"/>
          <p:nvPr/>
        </p:nvSpPr>
        <p:spPr>
          <a:xfrm>
            <a:off x="944880" y="5094568"/>
            <a:ext cx="4305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的概率分布，</a:t>
            </a:r>
            <a:r>
              <a:rPr lang="zh-CN" altLang="en-US" b="1" dirty="0"/>
              <a:t>泛化</a:t>
            </a:r>
            <a:r>
              <a:rPr lang="zh-CN" altLang="en-US" dirty="0"/>
              <a:t>能力</a:t>
            </a:r>
            <a:r>
              <a:rPr lang="en-US" altLang="zh-CN" dirty="0"/>
              <a:t>(</a:t>
            </a:r>
            <a:r>
              <a:rPr lang="en-US" altLang="zh-CN" dirty="0" err="1"/>
              <a:t>X_train</a:t>
            </a:r>
            <a:r>
              <a:rPr lang="en-US" altLang="zh-CN" dirty="0"/>
              <a:t>, </a:t>
            </a:r>
            <a:r>
              <a:rPr lang="en-US" altLang="zh-CN" dirty="0" err="1"/>
              <a:t>X_test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w</a:t>
            </a:r>
            <a:r>
              <a:rPr lang="zh-CN" altLang="en-US" dirty="0"/>
              <a:t>的</a:t>
            </a:r>
            <a:r>
              <a:rPr lang="zh-CN" altLang="en-US" b="1" dirty="0"/>
              <a:t>优化</a:t>
            </a:r>
            <a:r>
              <a:rPr lang="zh-CN" altLang="en-US" dirty="0"/>
              <a:t>问题</a:t>
            </a:r>
            <a:endParaRPr lang="en-US" altLang="zh-CN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8C612AB-4C8E-7856-219E-DE328A934287}"/>
              </a:ext>
            </a:extLst>
          </p:cNvPr>
          <p:cNvSpPr txBox="1"/>
          <p:nvPr/>
        </p:nvSpPr>
        <p:spPr>
          <a:xfrm>
            <a:off x="691896" y="1822037"/>
            <a:ext cx="3792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监督学习</a:t>
            </a:r>
            <a:r>
              <a:rPr lang="en-US" altLang="zh-CN" dirty="0"/>
              <a:t>: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FB7453F-7BB6-2E86-677E-1663AF479324}"/>
              </a:ext>
            </a:extLst>
          </p:cNvPr>
          <p:cNvSpPr txBox="1"/>
          <p:nvPr/>
        </p:nvSpPr>
        <p:spPr>
          <a:xfrm>
            <a:off x="6777872" y="2636544"/>
            <a:ext cx="39778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对于某类场景，期望从</a:t>
            </a:r>
            <a:r>
              <a:rPr lang="zh-CN" altLang="en-US" b="1" dirty="0"/>
              <a:t>部分</a:t>
            </a:r>
            <a:r>
              <a:rPr lang="zh-CN" altLang="en-US" dirty="0"/>
              <a:t>的符合某种概率分布的输入中学习到某种</a:t>
            </a:r>
            <a:r>
              <a:rPr lang="zh-CN" altLang="en-US" b="1" dirty="0"/>
              <a:t>规律</a:t>
            </a:r>
            <a:r>
              <a:rPr lang="zh-CN" altLang="en-US" dirty="0"/>
              <a:t>，这种规律能够最大可能逼近输入</a:t>
            </a:r>
            <a:r>
              <a:rPr lang="en-US" altLang="zh-CN" dirty="0"/>
              <a:t>/</a:t>
            </a:r>
            <a:r>
              <a:rPr lang="zh-CN" altLang="en-US" dirty="0"/>
              <a:t>输出的</a:t>
            </a:r>
            <a:r>
              <a:rPr lang="zh-CN" altLang="en-US" b="1" dirty="0"/>
              <a:t>概率分布</a:t>
            </a:r>
            <a:r>
              <a:rPr lang="zh-CN" altLang="en-US" dirty="0"/>
              <a:t>，并在对应的</a:t>
            </a:r>
            <a:r>
              <a:rPr lang="zh-CN" altLang="en-US" b="1" dirty="0"/>
              <a:t>特殊或未预见</a:t>
            </a:r>
            <a:r>
              <a:rPr lang="zh-CN" altLang="en-US" dirty="0"/>
              <a:t>的场景下给出最大概率结果，且该结果为正确的。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73419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0AF28-4F40-5CC6-084A-32FB051E6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78277F7A-EAED-ED03-B513-CECBBEB334AB}"/>
              </a:ext>
            </a:extLst>
          </p:cNvPr>
          <p:cNvSpPr txBox="1">
            <a:spLocks/>
          </p:cNvSpPr>
          <p:nvPr/>
        </p:nvSpPr>
        <p:spPr>
          <a:xfrm>
            <a:off x="691896" y="237743"/>
            <a:ext cx="9144000" cy="7210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特征空间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---How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7BB76013-0CB0-DD3F-6D09-88796FE5E28F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91896" y="1298099"/>
            <a:ext cx="10555224" cy="4261802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如何解决最优问题的流程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0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541AFE5-E0D0-56A7-4AFF-DAF9E88CD1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7950123"/>
              </p:ext>
            </p:extLst>
          </p:nvPr>
        </p:nvGraphicFramePr>
        <p:xfrm>
          <a:off x="6685803" y="2258510"/>
          <a:ext cx="4260541" cy="3681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70200" imgH="3174840" progId="Equation.DSMT4">
                  <p:embed/>
                </p:oleObj>
              </mc:Choice>
              <mc:Fallback>
                <p:oleObj name="Equation" r:id="rId2" imgW="3670200" imgH="3174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685803" y="2258510"/>
                        <a:ext cx="4260541" cy="36811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副标题 2">
            <a:extLst>
              <a:ext uri="{FF2B5EF4-FFF2-40B4-BE49-F238E27FC236}">
                <a16:creationId xmlns:a16="http://schemas.microsoft.com/office/drawing/2014/main" id="{F26E25C7-5502-71A1-E48F-B6E899D85742}"/>
              </a:ext>
            </a:extLst>
          </p:cNvPr>
          <p:cNvSpPr txBox="1">
            <a:spLocks/>
          </p:cNvSpPr>
          <p:nvPr/>
        </p:nvSpPr>
        <p:spPr>
          <a:xfrm>
            <a:off x="5652596" y="1658128"/>
            <a:ext cx="4547206" cy="43462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SGD(Stochastic gradient descent)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FB850F2-8497-610B-643D-9D5FE33482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6484953"/>
              </p:ext>
            </p:extLst>
          </p:nvPr>
        </p:nvGraphicFramePr>
        <p:xfrm>
          <a:off x="944880" y="2258510"/>
          <a:ext cx="2301875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12800" imgH="495000" progId="Equation.DSMT4">
                  <p:embed/>
                </p:oleObj>
              </mc:Choice>
              <mc:Fallback>
                <p:oleObj name="Equation" r:id="rId4" imgW="161280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44880" y="2258510"/>
                        <a:ext cx="2301875" cy="706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293E7706-AE96-F05D-243C-065E957440A5}"/>
              </a:ext>
            </a:extLst>
          </p:cNvPr>
          <p:cNvSpPr txBox="1"/>
          <p:nvPr/>
        </p:nvSpPr>
        <p:spPr>
          <a:xfrm>
            <a:off x="836149" y="3205446"/>
            <a:ext cx="3790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P(): </a:t>
            </a:r>
            <a:r>
              <a:rPr lang="zh-CN" altLang="en-US" dirty="0"/>
              <a:t>获取</a:t>
            </a:r>
            <a:r>
              <a:rPr lang="en-US" altLang="zh-CN" dirty="0"/>
              <a:t>w</a:t>
            </a:r>
            <a:r>
              <a:rPr lang="zh-CN" altLang="en-US" dirty="0"/>
              <a:t>最优解的过程</a:t>
            </a:r>
            <a:endParaRPr lang="en-US" altLang="zh-CN" dirty="0"/>
          </a:p>
          <a:p>
            <a:r>
              <a:rPr lang="en-US" altLang="zh-CN" dirty="0"/>
              <a:t>w: </a:t>
            </a:r>
            <a:r>
              <a:rPr lang="zh-CN" altLang="en-US" dirty="0"/>
              <a:t>函数</a:t>
            </a:r>
            <a:r>
              <a:rPr lang="en-US" altLang="zh-CN" dirty="0"/>
              <a:t>(</a:t>
            </a:r>
            <a:r>
              <a:rPr lang="zh-CN" altLang="en-US" dirty="0"/>
              <a:t>模型</a:t>
            </a:r>
            <a:r>
              <a:rPr lang="en-US" altLang="zh-CN" dirty="0"/>
              <a:t>)</a:t>
            </a:r>
            <a:r>
              <a:rPr lang="zh-CN" altLang="en-US" dirty="0"/>
              <a:t>参数</a:t>
            </a:r>
          </a:p>
        </p:txBody>
      </p:sp>
    </p:spTree>
    <p:extLst>
      <p:ext uri="{BB962C8B-B14F-4D97-AF65-F5344CB8AC3E}">
        <p14:creationId xmlns:p14="http://schemas.microsoft.com/office/powerpoint/2010/main" val="4282378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2ECC5-D8B7-3940-CC2A-1B052728E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24107496-6323-B42D-80E8-1C640B61E37D}"/>
              </a:ext>
            </a:extLst>
          </p:cNvPr>
          <p:cNvSpPr txBox="1">
            <a:spLocks/>
          </p:cNvSpPr>
          <p:nvPr/>
        </p:nvSpPr>
        <p:spPr>
          <a:xfrm>
            <a:off x="691896" y="237743"/>
            <a:ext cx="9144000" cy="7210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特征空间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---Example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07C4A197-8C59-D954-1083-03E3CA29E6F5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91896" y="1095830"/>
            <a:ext cx="10555224" cy="4989057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MNIST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数据集，对不同种类的服装饰品进行分类。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600" b="1" dirty="0"/>
              <a:t>'t-shirt'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T </a:t>
            </a:r>
            <a:r>
              <a:rPr lang="zh-CN" altLang="en-US" sz="1600" b="1" dirty="0"/>
              <a:t>恤）</a:t>
            </a:r>
            <a:r>
              <a:rPr lang="en-US" altLang="zh-CN" sz="1600" b="1" dirty="0"/>
              <a:t>'trouser'</a:t>
            </a:r>
            <a:r>
              <a:rPr lang="zh-CN" altLang="en-US" sz="1600" b="1" dirty="0"/>
              <a:t>（裤子）</a:t>
            </a:r>
            <a:r>
              <a:rPr lang="en-US" altLang="zh-CN" sz="1600" b="1" dirty="0"/>
              <a:t>'pullover'</a:t>
            </a:r>
            <a:r>
              <a:rPr lang="zh-CN" altLang="en-US" sz="1600" b="1" dirty="0"/>
              <a:t>（套头衫）</a:t>
            </a:r>
            <a:r>
              <a:rPr lang="en-US" altLang="zh-CN" sz="1600" b="1" dirty="0"/>
              <a:t>'dress'</a:t>
            </a:r>
            <a:r>
              <a:rPr lang="zh-CN" altLang="en-US" sz="1600" b="1" dirty="0"/>
              <a:t>（连衣裙）</a:t>
            </a:r>
            <a:r>
              <a:rPr lang="en-US" altLang="zh-CN" sz="1600" b="1" dirty="0"/>
              <a:t>'coat'</a:t>
            </a:r>
            <a:r>
              <a:rPr lang="zh-CN" altLang="en-US" sz="1600" b="1" dirty="0"/>
              <a:t>（外套）</a:t>
            </a:r>
            <a:r>
              <a:rPr lang="en-US" altLang="zh-CN" sz="1600" b="1" dirty="0"/>
              <a:t>'sandal'</a:t>
            </a:r>
            <a:r>
              <a:rPr lang="zh-CN" altLang="en-US" sz="1600" b="1" dirty="0"/>
              <a:t>（凉鞋）</a:t>
            </a:r>
            <a:r>
              <a:rPr lang="en-US" altLang="zh-CN" sz="1600" b="1" dirty="0"/>
              <a:t>'shirt'</a:t>
            </a:r>
            <a:r>
              <a:rPr lang="zh-CN" altLang="en-US" sz="1600" b="1" dirty="0"/>
              <a:t>（衬衫）</a:t>
            </a:r>
            <a:r>
              <a:rPr lang="en-US" altLang="zh-CN" sz="1600" b="1" dirty="0"/>
              <a:t>'sneaker'</a:t>
            </a:r>
            <a:r>
              <a:rPr lang="zh-CN" altLang="en-US" sz="1600" b="1" dirty="0"/>
              <a:t>（运动鞋）</a:t>
            </a:r>
            <a:r>
              <a:rPr lang="en-US" altLang="zh-CN" sz="1600" b="1" dirty="0"/>
              <a:t>'bag'</a:t>
            </a:r>
            <a:r>
              <a:rPr lang="zh-CN" altLang="en-US" sz="1600" b="1" dirty="0"/>
              <a:t>（包）</a:t>
            </a:r>
            <a:r>
              <a:rPr lang="zh-CN" altLang="en-US" sz="1600" dirty="0"/>
              <a:t>。</a:t>
            </a:r>
            <a:r>
              <a:rPr lang="en-US" altLang="zh-CN" sz="1600" b="1" dirty="0"/>
              <a:t>'ankle boot'</a:t>
            </a:r>
            <a:r>
              <a:rPr lang="zh-CN" altLang="en-US" sz="1600" b="1" dirty="0"/>
              <a:t>（踝靴）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方案：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X: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图片，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28X28=784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像素。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f()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：线性层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：权重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W(7840)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和偏置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B(10)</a:t>
            </a:r>
          </a:p>
          <a:p>
            <a:pPr marL="0" indent="0"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J(): 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交叉熵损失（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Cross Entropy Loss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P(): SGD</a:t>
            </a:r>
          </a:p>
          <a:p>
            <a:pPr marL="0" indent="0"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B0F1DB6-413C-B06C-ADA0-47D9539241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0996602"/>
              </p:ext>
            </p:extLst>
          </p:nvPr>
        </p:nvGraphicFramePr>
        <p:xfrm>
          <a:off x="1471613" y="2613025"/>
          <a:ext cx="1612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12800" imgH="279360" progId="Equation.DSMT4">
                  <p:embed/>
                </p:oleObj>
              </mc:Choice>
              <mc:Fallback>
                <p:oleObj name="Equation" r:id="rId2" imgW="16128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71613" y="2613025"/>
                        <a:ext cx="16129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FC5DB77F-F7B9-4D19-1877-AF135B2058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625" y="2589328"/>
            <a:ext cx="5029200" cy="738465"/>
          </a:xfrm>
          <a:prstGeom prst="rect">
            <a:avLst/>
          </a:prstGeom>
        </p:spPr>
      </p:pic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662C8CE3-867F-42D2-D67A-BBE28D4B21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0723782"/>
              </p:ext>
            </p:extLst>
          </p:nvPr>
        </p:nvGraphicFramePr>
        <p:xfrm>
          <a:off x="2027025" y="3731771"/>
          <a:ext cx="29337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933640" imgH="1104840" progId="Equation.DSMT4">
                  <p:embed/>
                </p:oleObj>
              </mc:Choice>
              <mc:Fallback>
                <p:oleObj name="Equation" r:id="rId5" imgW="2933640" imgH="1104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27025" y="3731771"/>
                        <a:ext cx="2933700" cy="1104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5AAFDDC8-905B-9EC6-B2F3-C71FE9FC9C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3553379"/>
              </p:ext>
            </p:extLst>
          </p:nvPr>
        </p:nvGraphicFramePr>
        <p:xfrm>
          <a:off x="6096000" y="4867275"/>
          <a:ext cx="4057650" cy="1217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793960" imgH="838080" progId="Equation.DSMT4">
                  <p:embed/>
                </p:oleObj>
              </mc:Choice>
              <mc:Fallback>
                <p:oleObj name="Equation" r:id="rId7" imgW="279396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96000" y="4867275"/>
                        <a:ext cx="4057650" cy="1217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18857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9C01F-4D33-7E93-5AF7-38BCB0313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473FB222-FEA4-0795-20E7-AF41A2A672B8}"/>
              </a:ext>
            </a:extLst>
          </p:cNvPr>
          <p:cNvSpPr txBox="1">
            <a:spLocks/>
          </p:cNvSpPr>
          <p:nvPr/>
        </p:nvSpPr>
        <p:spPr>
          <a:xfrm>
            <a:off x="691896" y="237743"/>
            <a:ext cx="9144000" cy="7210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特征空间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---Code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3C09007-8566-85E1-C2D3-04CB176BA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69" y="1722653"/>
            <a:ext cx="5857826" cy="3420628"/>
          </a:xfrm>
          <a:prstGeom prst="rect">
            <a:avLst/>
          </a:prstGeom>
        </p:spPr>
      </p:pic>
      <p:sp>
        <p:nvSpPr>
          <p:cNvPr id="9" name="箭头: 右 8">
            <a:extLst>
              <a:ext uri="{FF2B5EF4-FFF2-40B4-BE49-F238E27FC236}">
                <a16:creationId xmlns:a16="http://schemas.microsoft.com/office/drawing/2014/main" id="{B1E97F65-C7AD-0D6E-3BC9-10ECADF9234D}"/>
              </a:ext>
            </a:extLst>
          </p:cNvPr>
          <p:cNvSpPr/>
          <p:nvPr/>
        </p:nvSpPr>
        <p:spPr>
          <a:xfrm rot="645922">
            <a:off x="5589412" y="4309586"/>
            <a:ext cx="1556790" cy="3478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998DCB4-1774-3089-3B50-357DDB06D0C1}"/>
              </a:ext>
            </a:extLst>
          </p:cNvPr>
          <p:cNvSpPr txBox="1"/>
          <p:nvPr/>
        </p:nvSpPr>
        <p:spPr>
          <a:xfrm>
            <a:off x="7112944" y="4441278"/>
            <a:ext cx="3500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P(): </a:t>
            </a:r>
            <a:r>
              <a:rPr lang="zh-CN" altLang="en-US" sz="2400" dirty="0"/>
              <a:t>获取</a:t>
            </a:r>
            <a:r>
              <a:rPr lang="en-US" altLang="zh-CN" sz="2400" dirty="0"/>
              <a:t>w</a:t>
            </a:r>
            <a:r>
              <a:rPr lang="zh-CN" altLang="en-US" sz="2400" dirty="0"/>
              <a:t>最优解的过程</a:t>
            </a:r>
            <a:endParaRPr lang="en-US" altLang="zh-CN" sz="2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DE13E56-F1C2-B6BF-FCDF-66A873A75908}"/>
              </a:ext>
            </a:extLst>
          </p:cNvPr>
          <p:cNvSpPr txBox="1"/>
          <p:nvPr/>
        </p:nvSpPr>
        <p:spPr>
          <a:xfrm>
            <a:off x="7088372" y="2159524"/>
            <a:ext cx="41566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X: </a:t>
            </a:r>
            <a:r>
              <a:rPr lang="zh-CN" altLang="en-US" sz="2400" dirty="0"/>
              <a:t>函数</a:t>
            </a:r>
            <a:r>
              <a:rPr lang="en-US" altLang="zh-CN" sz="2400" dirty="0"/>
              <a:t>(</a:t>
            </a:r>
            <a:r>
              <a:rPr lang="zh-CN" altLang="en-US" sz="2400" dirty="0"/>
              <a:t>模型</a:t>
            </a:r>
            <a:r>
              <a:rPr lang="en-US" altLang="zh-CN" sz="2400" dirty="0"/>
              <a:t>)</a:t>
            </a:r>
            <a:r>
              <a:rPr lang="zh-CN" altLang="en-US" sz="2400" dirty="0"/>
              <a:t>输入，随机变量</a:t>
            </a:r>
            <a:endParaRPr lang="en-US" altLang="zh-CN" sz="2400" dirty="0"/>
          </a:p>
          <a:p>
            <a:r>
              <a:rPr lang="en-US" altLang="zh-CN" sz="2400" dirty="0"/>
              <a:t>Y: </a:t>
            </a:r>
            <a:r>
              <a:rPr lang="zh-CN" altLang="en-US" sz="2400" dirty="0"/>
              <a:t>函数</a:t>
            </a:r>
            <a:r>
              <a:rPr lang="en-US" altLang="zh-CN" sz="2400" dirty="0"/>
              <a:t>(</a:t>
            </a:r>
            <a:r>
              <a:rPr lang="zh-CN" altLang="en-US" sz="2400" dirty="0"/>
              <a:t>模型</a:t>
            </a:r>
            <a:r>
              <a:rPr lang="en-US" altLang="zh-CN" sz="2400" dirty="0"/>
              <a:t>)</a:t>
            </a:r>
            <a:r>
              <a:rPr lang="zh-CN" altLang="en-US" sz="2400" dirty="0"/>
              <a:t>输出的标签</a:t>
            </a:r>
            <a:endParaRPr lang="en-US" altLang="zh-CN" sz="2400" dirty="0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726374D1-A72D-DA4A-6249-9C30F9629037}"/>
              </a:ext>
            </a:extLst>
          </p:cNvPr>
          <p:cNvSpPr/>
          <p:nvPr/>
        </p:nvSpPr>
        <p:spPr>
          <a:xfrm rot="20720659">
            <a:off x="5616605" y="2685376"/>
            <a:ext cx="1426110" cy="3478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0FE22764-0215-CFCA-8B67-40C3DFEC3A7F}"/>
              </a:ext>
            </a:extLst>
          </p:cNvPr>
          <p:cNvSpPr/>
          <p:nvPr/>
        </p:nvSpPr>
        <p:spPr>
          <a:xfrm>
            <a:off x="5637405" y="3136769"/>
            <a:ext cx="1426110" cy="3478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6EFFBF0-1D87-8F8B-0E15-F6D0E272DB1D}"/>
              </a:ext>
            </a:extLst>
          </p:cNvPr>
          <p:cNvSpPr txBox="1"/>
          <p:nvPr/>
        </p:nvSpPr>
        <p:spPr>
          <a:xfrm>
            <a:off x="7112944" y="3083714"/>
            <a:ext cx="2563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f(): </a:t>
            </a:r>
            <a:r>
              <a:rPr lang="zh-CN" altLang="en-US" sz="2400" dirty="0"/>
              <a:t>函数</a:t>
            </a:r>
            <a:r>
              <a:rPr lang="en-US" altLang="zh-CN" sz="2400" dirty="0"/>
              <a:t>(</a:t>
            </a:r>
            <a:r>
              <a:rPr lang="zh-CN" altLang="en-US" sz="2400" dirty="0"/>
              <a:t>模型</a:t>
            </a:r>
            <a:r>
              <a:rPr lang="en-US" altLang="zh-CN" sz="2400" dirty="0"/>
              <a:t>)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95B50F59-C07B-9BB7-0C16-39A1E015A738}"/>
              </a:ext>
            </a:extLst>
          </p:cNvPr>
          <p:cNvSpPr/>
          <p:nvPr/>
        </p:nvSpPr>
        <p:spPr>
          <a:xfrm rot="280274">
            <a:off x="5758076" y="3565775"/>
            <a:ext cx="1426110" cy="3478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8324581-69A6-9D69-CA04-B61FA099A63B}"/>
              </a:ext>
            </a:extLst>
          </p:cNvPr>
          <p:cNvSpPr txBox="1"/>
          <p:nvPr/>
        </p:nvSpPr>
        <p:spPr>
          <a:xfrm>
            <a:off x="7112944" y="3576752"/>
            <a:ext cx="2760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w: </a:t>
            </a:r>
            <a:r>
              <a:rPr lang="zh-CN" altLang="en-US" sz="2400" dirty="0"/>
              <a:t>函数</a:t>
            </a:r>
            <a:r>
              <a:rPr lang="en-US" altLang="zh-CN" sz="2400" dirty="0"/>
              <a:t>(</a:t>
            </a:r>
            <a:r>
              <a:rPr lang="zh-CN" altLang="en-US" sz="2400" dirty="0"/>
              <a:t>模型</a:t>
            </a:r>
            <a:r>
              <a:rPr lang="en-US" altLang="zh-CN" sz="2400" dirty="0"/>
              <a:t>)</a:t>
            </a:r>
            <a:r>
              <a:rPr lang="zh-CN" altLang="en-US" sz="2400" dirty="0"/>
              <a:t>参数</a:t>
            </a:r>
            <a:endParaRPr lang="en-US" altLang="zh-CN" sz="2400" dirty="0"/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5417E732-B670-227F-1396-BCFE33C7733A}"/>
              </a:ext>
            </a:extLst>
          </p:cNvPr>
          <p:cNvSpPr/>
          <p:nvPr/>
        </p:nvSpPr>
        <p:spPr>
          <a:xfrm rot="280274">
            <a:off x="5031996" y="3984188"/>
            <a:ext cx="2167418" cy="3478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1D5AE3C-375F-0A03-6384-2C011B1D1371}"/>
              </a:ext>
            </a:extLst>
          </p:cNvPr>
          <p:cNvSpPr txBox="1"/>
          <p:nvPr/>
        </p:nvSpPr>
        <p:spPr>
          <a:xfrm>
            <a:off x="7112944" y="4021825"/>
            <a:ext cx="3830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J():</a:t>
            </a:r>
            <a:r>
              <a:rPr lang="zh-CN" altLang="en-US" sz="2400" dirty="0"/>
              <a:t> 优化函数，损失函数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005493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60B2C-3383-1DB7-199E-98D84EBD7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3A34C47E-7BAC-D36D-3478-2B1B957C5A0C}"/>
              </a:ext>
            </a:extLst>
          </p:cNvPr>
          <p:cNvSpPr txBox="1">
            <a:spLocks/>
          </p:cNvSpPr>
          <p:nvPr/>
        </p:nvSpPr>
        <p:spPr>
          <a:xfrm>
            <a:off x="691896" y="237743"/>
            <a:ext cx="9144000" cy="7210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特征空间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---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6B68168-2FF0-CCA0-227E-EAC41F4343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5504" y="4246373"/>
            <a:ext cx="6753224" cy="1922602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C46EB10-CCD3-66CD-8D4E-8593DF906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7477" y="1213309"/>
            <a:ext cx="3389279" cy="303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09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5A0B1-B64E-872F-9A1A-95D24A1F9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27CE284A-8F8A-27F3-599A-62CAC8EB4D0A}"/>
              </a:ext>
            </a:extLst>
          </p:cNvPr>
          <p:cNvSpPr txBox="1">
            <a:spLocks/>
          </p:cNvSpPr>
          <p:nvPr/>
        </p:nvSpPr>
        <p:spPr>
          <a:xfrm>
            <a:off x="691896" y="237743"/>
            <a:ext cx="9144000" cy="7210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特征空间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B9D7AD-DD84-83D7-546C-023A9B771F29}"/>
              </a:ext>
            </a:extLst>
          </p:cNvPr>
          <p:cNvSpPr txBox="1"/>
          <p:nvPr/>
        </p:nvSpPr>
        <p:spPr>
          <a:xfrm>
            <a:off x="8474901" y="1755645"/>
            <a:ext cx="2488472" cy="3113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/>
              <a:t>特征空间为：</a:t>
            </a:r>
            <a:endParaRPr lang="en-US" altLang="zh-CN" sz="1800" b="1" dirty="0"/>
          </a:p>
          <a:p>
            <a:r>
              <a:rPr lang="en-US" altLang="zh-CN" sz="1800" b="1" dirty="0"/>
              <a:t>'t-shirt'</a:t>
            </a:r>
            <a:r>
              <a:rPr lang="zh-CN" altLang="en-US" sz="1800" b="1" dirty="0"/>
              <a:t>（</a:t>
            </a:r>
            <a:r>
              <a:rPr lang="en-US" altLang="zh-CN" sz="1800" b="1" dirty="0"/>
              <a:t>T </a:t>
            </a:r>
            <a:r>
              <a:rPr lang="zh-CN" altLang="en-US" sz="1800" b="1" dirty="0"/>
              <a:t>恤）</a:t>
            </a:r>
            <a:endParaRPr lang="en-US" altLang="zh-CN" sz="1800" b="1" dirty="0"/>
          </a:p>
          <a:p>
            <a:r>
              <a:rPr lang="en-US" altLang="zh-CN" sz="1800" b="1" dirty="0"/>
              <a:t>'trouser'</a:t>
            </a:r>
            <a:r>
              <a:rPr lang="zh-CN" altLang="en-US" sz="1800" b="1" dirty="0"/>
              <a:t>（裤子）</a:t>
            </a:r>
            <a:endParaRPr lang="en-US" altLang="zh-CN" sz="1800" b="1" dirty="0"/>
          </a:p>
          <a:p>
            <a:r>
              <a:rPr lang="en-US" altLang="zh-CN" sz="1800" b="1" dirty="0"/>
              <a:t>'pullover'</a:t>
            </a:r>
            <a:r>
              <a:rPr lang="zh-CN" altLang="en-US" sz="1800" b="1" dirty="0"/>
              <a:t>（套头衫）</a:t>
            </a:r>
            <a:endParaRPr lang="en-US" altLang="zh-CN" sz="1800" b="1" dirty="0"/>
          </a:p>
          <a:p>
            <a:r>
              <a:rPr lang="en-US" altLang="zh-CN" sz="1800" b="1" dirty="0"/>
              <a:t>'dress'</a:t>
            </a:r>
            <a:r>
              <a:rPr lang="zh-CN" altLang="en-US" sz="1800" b="1" dirty="0"/>
              <a:t>（连衣裙）</a:t>
            </a:r>
            <a:endParaRPr lang="en-US" altLang="zh-CN" sz="1800" b="1" dirty="0"/>
          </a:p>
          <a:p>
            <a:r>
              <a:rPr lang="en-US" altLang="zh-CN" sz="1800" b="1" dirty="0"/>
              <a:t>'coat'</a:t>
            </a:r>
            <a:r>
              <a:rPr lang="zh-CN" altLang="en-US" sz="1800" b="1" dirty="0"/>
              <a:t>（外套）</a:t>
            </a:r>
            <a:endParaRPr lang="en-US" altLang="zh-CN" sz="1800" b="1" dirty="0"/>
          </a:p>
          <a:p>
            <a:r>
              <a:rPr lang="en-US" altLang="zh-CN" sz="1800" b="1" dirty="0"/>
              <a:t>'sandal'</a:t>
            </a:r>
            <a:r>
              <a:rPr lang="zh-CN" altLang="en-US" sz="1800" b="1" dirty="0"/>
              <a:t>（凉鞋）</a:t>
            </a:r>
            <a:endParaRPr lang="en-US" altLang="zh-CN" sz="1800" b="1" dirty="0"/>
          </a:p>
          <a:p>
            <a:r>
              <a:rPr lang="en-US" altLang="zh-CN" sz="1800" b="1" dirty="0"/>
              <a:t>'shirt'</a:t>
            </a:r>
            <a:r>
              <a:rPr lang="zh-CN" altLang="en-US" sz="1800" b="1" dirty="0"/>
              <a:t>（衬衫）</a:t>
            </a:r>
            <a:endParaRPr lang="en-US" altLang="zh-CN" sz="1800" b="1" dirty="0"/>
          </a:p>
          <a:p>
            <a:r>
              <a:rPr lang="en-US" altLang="zh-CN" sz="1800" b="1" dirty="0"/>
              <a:t>'sneaker'</a:t>
            </a:r>
            <a:r>
              <a:rPr lang="zh-CN" altLang="en-US" sz="1800" b="1" dirty="0"/>
              <a:t>（运动鞋）</a:t>
            </a:r>
            <a:endParaRPr lang="en-US" altLang="zh-CN" sz="1800" b="1" dirty="0"/>
          </a:p>
          <a:p>
            <a:r>
              <a:rPr lang="en-US" altLang="zh-CN" sz="1800" b="1" dirty="0"/>
              <a:t>‘bag’</a:t>
            </a:r>
            <a:r>
              <a:rPr lang="zh-CN" altLang="en-US" sz="1800" b="1" dirty="0"/>
              <a:t>（包）</a:t>
            </a:r>
            <a:endParaRPr lang="en-US" altLang="zh-CN" b="1" dirty="0"/>
          </a:p>
          <a:p>
            <a:r>
              <a:rPr lang="en-US" altLang="zh-CN" sz="1800" b="1" dirty="0"/>
              <a:t>'ankle boot'</a:t>
            </a:r>
            <a:r>
              <a:rPr lang="zh-CN" altLang="en-US" sz="1800" b="1" dirty="0"/>
              <a:t>（踝靴）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1E75302-9A75-41C5-2583-17977FF9BF92}"/>
              </a:ext>
            </a:extLst>
          </p:cNvPr>
          <p:cNvSpPr txBox="1"/>
          <p:nvPr/>
        </p:nvSpPr>
        <p:spPr>
          <a:xfrm>
            <a:off x="691896" y="1740375"/>
            <a:ext cx="23454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 err="1"/>
              <a:t>b</a:t>
            </a:r>
            <a:r>
              <a:rPr lang="en-US" altLang="zh-CN" sz="1800" b="1" dirty="0" err="1"/>
              <a:t>atch_size</a:t>
            </a:r>
            <a:r>
              <a:rPr lang="en-US" altLang="zh-CN" sz="1800" b="1" dirty="0"/>
              <a:t> = 1</a:t>
            </a:r>
            <a:r>
              <a:rPr lang="zh-CN" altLang="en-US" sz="1800" b="1" dirty="0"/>
              <a:t>时：</a:t>
            </a:r>
            <a:endParaRPr lang="en-US" altLang="zh-CN" sz="18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3598321-D79E-F193-38C1-C0E2EB00B4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018" y="2262456"/>
            <a:ext cx="6862034" cy="76713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221F03D-6630-3C21-EC2C-C96FB01677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018" y="3828414"/>
            <a:ext cx="6862034" cy="73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173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5B039-8334-CEFA-1F99-C29A838B5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7C1ED38-5B4E-3CD4-B1AF-C985A314474F}"/>
              </a:ext>
            </a:extLst>
          </p:cNvPr>
          <p:cNvSpPr txBox="1">
            <a:spLocks/>
          </p:cNvSpPr>
          <p:nvPr/>
        </p:nvSpPr>
        <p:spPr>
          <a:xfrm>
            <a:off x="691896" y="237743"/>
            <a:ext cx="9144000" cy="7210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特征空间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7A317E5-FB90-D28A-9368-11566215F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299" y="1484855"/>
            <a:ext cx="5053699" cy="301123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FCE0AEC-8D2B-C4FD-17FE-BB7E49CCE6F6}"/>
              </a:ext>
            </a:extLst>
          </p:cNvPr>
          <p:cNvSpPr txBox="1"/>
          <p:nvPr/>
        </p:nvSpPr>
        <p:spPr>
          <a:xfrm>
            <a:off x="1329754" y="4840352"/>
            <a:ext cx="43279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LeNet</a:t>
            </a:r>
            <a:r>
              <a:rPr lang="en-US" altLang="zh-CN" sz="2000" dirty="0"/>
              <a:t>: Gradient-Based Learning Applied to Document Recognition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2DA0224-EE53-A8A2-42C6-080F6C8B29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3799" y="1418931"/>
            <a:ext cx="3419622" cy="3077163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2378FD3B-37B2-0379-37E9-F9B0F3E0E574}"/>
              </a:ext>
            </a:extLst>
          </p:cNvPr>
          <p:cNvSpPr txBox="1"/>
          <p:nvPr/>
        </p:nvSpPr>
        <p:spPr>
          <a:xfrm>
            <a:off x="6719628" y="4840352"/>
            <a:ext cx="43279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AlexNet</a:t>
            </a:r>
            <a:r>
              <a:rPr lang="en-US" altLang="zh-CN" sz="2000" dirty="0"/>
              <a:t>: ImageNet Classification with Deep Convolutional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1170512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8501A-61E7-BD9C-2844-F506E951F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AC6AED87-062B-DF8F-F2C2-0B0ABE7A4898}"/>
              </a:ext>
            </a:extLst>
          </p:cNvPr>
          <p:cNvSpPr txBox="1">
            <a:spLocks/>
          </p:cNvSpPr>
          <p:nvPr/>
        </p:nvSpPr>
        <p:spPr>
          <a:xfrm>
            <a:off x="691896" y="237743"/>
            <a:ext cx="9144000" cy="7210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特征空间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B231052-69B9-1279-E6FB-2E8430CFEFC3}"/>
              </a:ext>
            </a:extLst>
          </p:cNvPr>
          <p:cNvSpPr txBox="1"/>
          <p:nvPr/>
        </p:nvSpPr>
        <p:spPr>
          <a:xfrm>
            <a:off x="691896" y="1239241"/>
            <a:ext cx="82578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对于某类场景，期望从</a:t>
            </a:r>
            <a:r>
              <a:rPr lang="zh-CN" altLang="en-US" b="1" dirty="0"/>
              <a:t>部分</a:t>
            </a:r>
            <a:r>
              <a:rPr lang="zh-CN" altLang="en-US" dirty="0"/>
              <a:t>的符合某种概率分布的输入中学习到某种</a:t>
            </a:r>
            <a:r>
              <a:rPr lang="zh-CN" altLang="en-US" b="1" dirty="0"/>
              <a:t>规律</a:t>
            </a:r>
            <a:r>
              <a:rPr lang="zh-CN" altLang="en-US" dirty="0"/>
              <a:t>，这种规律能够最大可能逼近输入</a:t>
            </a:r>
            <a:r>
              <a:rPr lang="en-US" altLang="zh-CN" dirty="0"/>
              <a:t>/</a:t>
            </a:r>
            <a:r>
              <a:rPr lang="zh-CN" altLang="en-US" dirty="0"/>
              <a:t>输出的</a:t>
            </a:r>
            <a:r>
              <a:rPr lang="zh-CN" altLang="en-US" b="1" dirty="0"/>
              <a:t>概率分布</a:t>
            </a:r>
            <a:r>
              <a:rPr lang="zh-CN" altLang="en-US" dirty="0"/>
              <a:t>，并在对应的</a:t>
            </a:r>
            <a:r>
              <a:rPr lang="zh-CN" altLang="en-US" b="1" dirty="0"/>
              <a:t>特殊或未预见</a:t>
            </a:r>
            <a:r>
              <a:rPr lang="zh-CN" altLang="en-US" dirty="0"/>
              <a:t>的场景下给出最大概率结果，且该结果为正确的。</a:t>
            </a:r>
            <a:endParaRPr lang="en-US" altLang="zh-CN" dirty="0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983CC553-F13B-D3C0-F176-00A4956592D8}"/>
              </a:ext>
            </a:extLst>
          </p:cNvPr>
          <p:cNvSpPr/>
          <p:nvPr/>
        </p:nvSpPr>
        <p:spPr>
          <a:xfrm rot="5400000">
            <a:off x="4810318" y="2538999"/>
            <a:ext cx="701765" cy="2053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9BCCCCD-CC20-97FF-C923-0A6AF5A8F094}"/>
              </a:ext>
            </a:extLst>
          </p:cNvPr>
          <p:cNvSpPr txBox="1"/>
          <p:nvPr/>
        </p:nvSpPr>
        <p:spPr>
          <a:xfrm>
            <a:off x="3739419" y="3168655"/>
            <a:ext cx="304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规律</a:t>
            </a:r>
            <a:r>
              <a:rPr lang="en-US" altLang="zh-CN" dirty="0"/>
              <a:t>/</a:t>
            </a:r>
            <a:r>
              <a:rPr lang="zh-CN" altLang="en-US" dirty="0"/>
              <a:t>特征越好，泛化性越好。</a:t>
            </a:r>
            <a:endParaRPr lang="en-US" altLang="zh-CN" dirty="0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2022676F-9F31-D96E-4C80-A8F35C004652}"/>
              </a:ext>
            </a:extLst>
          </p:cNvPr>
          <p:cNvSpPr/>
          <p:nvPr/>
        </p:nvSpPr>
        <p:spPr>
          <a:xfrm rot="5400000">
            <a:off x="4810318" y="3887421"/>
            <a:ext cx="701765" cy="2053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E149ACE-B450-74BC-7304-7BC1CDB2890F}"/>
              </a:ext>
            </a:extLst>
          </p:cNvPr>
          <p:cNvSpPr txBox="1"/>
          <p:nvPr/>
        </p:nvSpPr>
        <p:spPr>
          <a:xfrm>
            <a:off x="3739419" y="4544071"/>
            <a:ext cx="43299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X, Y: </a:t>
            </a:r>
            <a:r>
              <a:rPr lang="zh-CN" altLang="en-US" dirty="0"/>
              <a:t>数据分布越广泛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f(): </a:t>
            </a:r>
            <a:r>
              <a:rPr lang="zh-CN" altLang="en-US" dirty="0">
                <a:solidFill>
                  <a:srgbClr val="FF0000"/>
                </a:solidFill>
              </a:rPr>
              <a:t>模型架构对特征提取更强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J(): </a:t>
            </a:r>
            <a:r>
              <a:rPr lang="zh-CN" altLang="en-US" dirty="0"/>
              <a:t>某种规律越友善</a:t>
            </a:r>
            <a:r>
              <a:rPr lang="en-US" altLang="zh-CN" dirty="0"/>
              <a:t>/</a:t>
            </a:r>
            <a:r>
              <a:rPr lang="zh-CN" altLang="en-US" dirty="0"/>
              <a:t>减少人工设计环节</a:t>
            </a:r>
            <a:endParaRPr lang="en-US" altLang="zh-CN" dirty="0"/>
          </a:p>
          <a:p>
            <a:r>
              <a:rPr lang="en-US" altLang="zh-CN" dirty="0"/>
              <a:t>P(): </a:t>
            </a:r>
            <a:r>
              <a:rPr lang="zh-CN" altLang="en-US" dirty="0"/>
              <a:t>减少人工设计环节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74163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47EAA-8DE2-2C1E-0250-7A9858362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1A4D7-519D-CA95-AC07-0BD3D4BB1DAC}"/>
              </a:ext>
            </a:extLst>
          </p:cNvPr>
          <p:cNvSpPr txBox="1">
            <a:spLocks/>
          </p:cNvSpPr>
          <p:nvPr/>
        </p:nvSpPr>
        <p:spPr>
          <a:xfrm>
            <a:off x="4132680" y="3068478"/>
            <a:ext cx="4342017" cy="7210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Transformer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8492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724BE-8876-02B8-3DD1-7CBC3BD41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C84D285-E538-7348-C42A-4DC73554F17F}"/>
              </a:ext>
            </a:extLst>
          </p:cNvPr>
          <p:cNvSpPr txBox="1">
            <a:spLocks/>
          </p:cNvSpPr>
          <p:nvPr/>
        </p:nvSpPr>
        <p:spPr>
          <a:xfrm>
            <a:off x="691896" y="237743"/>
            <a:ext cx="9144000" cy="7210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Transformer---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任务表述</a:t>
            </a: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99A97748-8998-744E-B0CE-3F38670CF82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91896" y="1472901"/>
            <a:ext cx="10555224" cy="3429037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将中文翻译成英文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方案：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Y: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中文语句及其对应的语句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f()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Transformer</a:t>
            </a:r>
          </a:p>
          <a:p>
            <a:pPr mar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：参见代码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J():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交叉熵损失（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Cross Entropy Loss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P(): Adam</a:t>
            </a:r>
          </a:p>
        </p:txBody>
      </p:sp>
    </p:spTree>
    <p:extLst>
      <p:ext uri="{BB962C8B-B14F-4D97-AF65-F5344CB8AC3E}">
        <p14:creationId xmlns:p14="http://schemas.microsoft.com/office/powerpoint/2010/main" val="3126796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18C6B-614F-3033-5204-DB961FEA6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ABA4D125-C05D-A85C-5122-21447C69A4BA}"/>
              </a:ext>
            </a:extLst>
          </p:cNvPr>
          <p:cNvSpPr txBox="1">
            <a:spLocks/>
          </p:cNvSpPr>
          <p:nvPr/>
        </p:nvSpPr>
        <p:spPr>
          <a:xfrm>
            <a:off x="691896" y="237743"/>
            <a:ext cx="9144000" cy="7210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Transformer---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总体架构</a:t>
            </a: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0DBC3AD8-04DE-9373-5290-8DB1877B0DAF}"/>
              </a:ext>
            </a:extLst>
          </p:cNvPr>
          <p:cNvSpPr txBox="1">
            <a:spLocks/>
          </p:cNvSpPr>
          <p:nvPr/>
        </p:nvSpPr>
        <p:spPr>
          <a:xfrm>
            <a:off x="889858" y="1380322"/>
            <a:ext cx="2258694" cy="14759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SeqToSeq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编码器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解码器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6DD40D0-2152-124C-2EFA-C3D5F8E140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701" y="2950589"/>
            <a:ext cx="5664105" cy="288288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9897F59-B59A-E924-40B5-93CB454B5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7553" y="1474590"/>
            <a:ext cx="2984101" cy="4607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261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B1D88-416A-4A6A-798B-7929C324D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37091719-AA66-9A4E-E717-D6FC4637E3D1}"/>
              </a:ext>
            </a:extLst>
          </p:cNvPr>
          <p:cNvSpPr txBox="1">
            <a:spLocks/>
          </p:cNvSpPr>
          <p:nvPr/>
        </p:nvSpPr>
        <p:spPr>
          <a:xfrm>
            <a:off x="691896" y="237743"/>
            <a:ext cx="9144000" cy="7210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Transformer---Encoder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89CFF97-E594-5202-D160-EC00FABFDFF3}"/>
              </a:ext>
            </a:extLst>
          </p:cNvPr>
          <p:cNvSpPr txBox="1"/>
          <p:nvPr/>
        </p:nvSpPr>
        <p:spPr>
          <a:xfrm>
            <a:off x="926185" y="1142552"/>
            <a:ext cx="32464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词向量及位置编码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多头自注意力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残差链接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层归一化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前馈网络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7BCB9B2-C932-DC04-1B17-64864D8404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138" y="2473238"/>
            <a:ext cx="4472314" cy="339942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CB444CEB-DAC6-4974-EC71-D30BD0372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577" y="1832715"/>
            <a:ext cx="2027096" cy="387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435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477AB-3D00-BD18-D138-8068A2A17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AFEF2F8-905F-E146-014C-9FBA1ED77A18}"/>
              </a:ext>
            </a:extLst>
          </p:cNvPr>
          <p:cNvSpPr txBox="1">
            <a:spLocks/>
          </p:cNvSpPr>
          <p:nvPr/>
        </p:nvSpPr>
        <p:spPr>
          <a:xfrm>
            <a:off x="691896" y="237743"/>
            <a:ext cx="9144000" cy="7210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Transformer---Encoder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2894DBA-550D-8167-B019-25A7BFC9C902}"/>
              </a:ext>
            </a:extLst>
          </p:cNvPr>
          <p:cNvSpPr txBox="1"/>
          <p:nvPr/>
        </p:nvSpPr>
        <p:spPr>
          <a:xfrm>
            <a:off x="977739" y="1305987"/>
            <a:ext cx="3246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词向量及位置编码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BA47AD0-7C46-5F3B-75D8-79B7BF9A24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739" y="1842645"/>
            <a:ext cx="7067550" cy="11811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CF30B56-C6B3-7CF6-6D13-0FE303DD6A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28" y="3489036"/>
            <a:ext cx="7119161" cy="209332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280ECCB4-9D27-BE07-A06A-FAF7D5C09D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3577" y="3205408"/>
            <a:ext cx="1996613" cy="148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7855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2D8CC-5E66-82A3-6C9D-B142510EE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899CC380-A86F-3113-079A-8D810BA1B3E4}"/>
              </a:ext>
            </a:extLst>
          </p:cNvPr>
          <p:cNvSpPr txBox="1">
            <a:spLocks/>
          </p:cNvSpPr>
          <p:nvPr/>
        </p:nvSpPr>
        <p:spPr>
          <a:xfrm>
            <a:off x="691896" y="237743"/>
            <a:ext cx="9144000" cy="7210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Transformer---Encoder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2E9B9FC-3326-255B-1E08-D04DDCEACAD3}"/>
              </a:ext>
            </a:extLst>
          </p:cNvPr>
          <p:cNvSpPr txBox="1"/>
          <p:nvPr/>
        </p:nvSpPr>
        <p:spPr>
          <a:xfrm>
            <a:off x="883471" y="1292689"/>
            <a:ext cx="32464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多头自注意力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残差链接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层归一化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前馈网络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1EC9AE7-DBE1-673F-98BA-5A3691AD51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71" y="2414342"/>
            <a:ext cx="6685576" cy="279902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9F12B97-8D53-CF64-5422-5C3236D26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3265" y="1928707"/>
            <a:ext cx="2287304" cy="273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403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D09EB-A31E-C071-C553-ABB46EC41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A5916B70-151E-FFD4-76D5-A08772F403EB}"/>
              </a:ext>
            </a:extLst>
          </p:cNvPr>
          <p:cNvSpPr txBox="1">
            <a:spLocks/>
          </p:cNvSpPr>
          <p:nvPr/>
        </p:nvSpPr>
        <p:spPr>
          <a:xfrm>
            <a:off x="691896" y="237743"/>
            <a:ext cx="9144000" cy="7210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Transformer---Encoder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A85016F-552B-2F82-736B-4D0E593F15DF}"/>
              </a:ext>
            </a:extLst>
          </p:cNvPr>
          <p:cNvSpPr txBox="1"/>
          <p:nvPr/>
        </p:nvSpPr>
        <p:spPr>
          <a:xfrm>
            <a:off x="805797" y="1125737"/>
            <a:ext cx="32464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多头自注意力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残差链接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层归一化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45929F3-2689-9202-840F-6CE8D94549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451" y="1939019"/>
            <a:ext cx="4358207" cy="411298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F606ADC-C432-CDA5-BD3C-91355BFE6B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9179" y="1143140"/>
            <a:ext cx="1797484" cy="1393554"/>
          </a:xfrm>
          <a:prstGeom prst="rect">
            <a:avLst/>
          </a:prstGeom>
        </p:spPr>
      </p:pic>
      <p:sp>
        <p:nvSpPr>
          <p:cNvPr id="13" name="AutoShape 1">
            <a:extLst>
              <a:ext uri="{FF2B5EF4-FFF2-40B4-BE49-F238E27FC236}">
                <a16:creationId xmlns:a16="http://schemas.microsoft.com/office/drawing/2014/main" id="{85AD4BFE-C8C5-155D-3E02-E5B097A65E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170DF94D-39DF-EE80-F39D-5E004B7BD4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2400" y="15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59E12A1A-B329-41B2-360A-F536D2CFBD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4425" y="2721049"/>
            <a:ext cx="2698968" cy="333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7105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4A1C6-479E-BD09-6B11-742E0104F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D5496B2D-97E7-8930-33B8-DB397E334703}"/>
              </a:ext>
            </a:extLst>
          </p:cNvPr>
          <p:cNvSpPr txBox="1">
            <a:spLocks/>
          </p:cNvSpPr>
          <p:nvPr/>
        </p:nvSpPr>
        <p:spPr>
          <a:xfrm>
            <a:off x="691896" y="237743"/>
            <a:ext cx="9144000" cy="7210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Transformer---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缩放点击注意力机制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C88F544-69F2-E145-1921-A947052EE4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004" y="1191884"/>
            <a:ext cx="5852081" cy="175858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756FA94-CA23-8509-AB55-51FB75C387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3034" y="1191884"/>
            <a:ext cx="2575318" cy="312390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9ECE2B86-04BF-C190-D6A0-A2AFFF8C67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347" y="4467154"/>
            <a:ext cx="4032690" cy="752431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A3194C95-A8BE-02D3-A3F4-EAEB7AF7CBAA}"/>
              </a:ext>
            </a:extLst>
          </p:cNvPr>
          <p:cNvSpPr txBox="1"/>
          <p:nvPr/>
        </p:nvSpPr>
        <p:spPr>
          <a:xfrm>
            <a:off x="871004" y="3152559"/>
            <a:ext cx="50374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batch_size</a:t>
            </a:r>
            <a:r>
              <a:rPr lang="en-US" altLang="zh-CN" dirty="0"/>
              <a:t> = 1, </a:t>
            </a:r>
            <a:r>
              <a:rPr lang="en-US" altLang="zh-CN" dirty="0" err="1"/>
              <a:t>n_heads</a:t>
            </a:r>
            <a:r>
              <a:rPr lang="en-US" altLang="zh-CN" dirty="0"/>
              <a:t> = 1, </a:t>
            </a:r>
            <a:r>
              <a:rPr lang="en-US" altLang="zh-CN" dirty="0" err="1"/>
              <a:t>d_k</a:t>
            </a:r>
            <a:r>
              <a:rPr lang="en-US" altLang="zh-CN" dirty="0"/>
              <a:t> = 64,  </a:t>
            </a:r>
            <a:r>
              <a:rPr lang="en-US" altLang="zh-CN" dirty="0" err="1"/>
              <a:t>d_v</a:t>
            </a:r>
            <a:r>
              <a:rPr lang="en-US" altLang="zh-CN" dirty="0"/>
              <a:t> = 32,</a:t>
            </a:r>
          </a:p>
          <a:p>
            <a:r>
              <a:rPr lang="zh-CN" altLang="en-US" dirty="0"/>
              <a:t>输入为“</a:t>
            </a:r>
            <a:r>
              <a:rPr lang="en-US" altLang="zh-CN" dirty="0"/>
              <a:t>&lt;</a:t>
            </a:r>
            <a:r>
              <a:rPr lang="zh-CN" altLang="en-US" dirty="0"/>
              <a:t>我</a:t>
            </a:r>
            <a:r>
              <a:rPr lang="en-US" altLang="zh-CN" dirty="0"/>
              <a:t>&gt; &lt;</a:t>
            </a:r>
            <a:r>
              <a:rPr lang="zh-CN" altLang="en-US" dirty="0"/>
              <a:t>希望</a:t>
            </a:r>
            <a:r>
              <a:rPr lang="en-US" altLang="zh-CN" dirty="0"/>
              <a:t>&gt;&lt;</a:t>
            </a:r>
            <a:r>
              <a:rPr lang="zh-CN" altLang="en-US" dirty="0"/>
              <a:t>能够</a:t>
            </a:r>
            <a:r>
              <a:rPr lang="en-US" altLang="zh-CN" dirty="0"/>
              <a:t>&gt;&lt;</a:t>
            </a:r>
            <a:r>
              <a:rPr lang="zh-CN" altLang="en-US" dirty="0"/>
              <a:t>从中</a:t>
            </a:r>
            <a:r>
              <a:rPr lang="en-US" altLang="zh-CN" dirty="0"/>
              <a:t>&gt;&lt;</a:t>
            </a:r>
            <a:r>
              <a:rPr lang="zh-CN" altLang="en-US" dirty="0"/>
              <a:t>获得</a:t>
            </a:r>
            <a:r>
              <a:rPr lang="en-US" altLang="zh-CN" dirty="0"/>
              <a:t>&gt;&lt;</a:t>
            </a:r>
            <a:r>
              <a:rPr lang="zh-CN" altLang="en-US" dirty="0"/>
              <a:t>相应的</a:t>
            </a:r>
            <a:r>
              <a:rPr lang="en-US" altLang="zh-CN" dirty="0"/>
              <a:t>&gt;&lt;</a:t>
            </a:r>
            <a:r>
              <a:rPr lang="zh-CN" altLang="en-US" dirty="0"/>
              <a:t>收获</a:t>
            </a:r>
            <a:r>
              <a:rPr lang="en-US" altLang="zh-CN" dirty="0"/>
              <a:t>&gt;&lt;pad&gt;</a:t>
            </a:r>
            <a:r>
              <a:rPr lang="zh-CN" altLang="en-US" dirty="0"/>
              <a:t>”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9C015365-F02E-3D57-0D4C-7FBEB7EF83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6080" y="4189741"/>
            <a:ext cx="2686050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1810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1E1A5-7F43-15B7-2EA1-E246B7549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40B9C38A-3401-0A94-A692-82A537FC1347}"/>
              </a:ext>
            </a:extLst>
          </p:cNvPr>
          <p:cNvSpPr txBox="1">
            <a:spLocks/>
          </p:cNvSpPr>
          <p:nvPr/>
        </p:nvSpPr>
        <p:spPr>
          <a:xfrm>
            <a:off x="691896" y="237743"/>
            <a:ext cx="9144000" cy="7210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Transformer---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缩放点击注意力机制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9B92161-9578-C0DE-CD0D-1EFC9D33E5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9472855"/>
              </p:ext>
            </p:extLst>
          </p:nvPr>
        </p:nvGraphicFramePr>
        <p:xfrm>
          <a:off x="539897" y="1813641"/>
          <a:ext cx="7127655" cy="2510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12413" imgH="3561635" progId="Equation.DSMT4">
                  <p:embed/>
                </p:oleObj>
              </mc:Choice>
              <mc:Fallback>
                <p:oleObj name="Equation" r:id="rId2" imgW="10112413" imgH="356163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9897" y="1813641"/>
                        <a:ext cx="7127655" cy="25109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01A32921-1A36-A5F1-831F-9FDEA20614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9551" y="5088116"/>
            <a:ext cx="4032690" cy="75243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963CAD0-2DCA-7DCA-7F04-D82503A935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8392" y="1537109"/>
            <a:ext cx="3893711" cy="320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0911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4BBA7-9FBB-9A42-6A3E-59DEA89D1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0B7C337F-75B9-0E00-FCA3-84B434F0CA72}"/>
              </a:ext>
            </a:extLst>
          </p:cNvPr>
          <p:cNvSpPr txBox="1">
            <a:spLocks/>
          </p:cNvSpPr>
          <p:nvPr/>
        </p:nvSpPr>
        <p:spPr>
          <a:xfrm>
            <a:off x="691896" y="237743"/>
            <a:ext cx="9144000" cy="7210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Transformer---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缩放点击注意力机制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C1AE31A-07C7-66FD-2699-4C19AABE2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5439" y="2791219"/>
            <a:ext cx="7177382" cy="306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839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>
          <a:xfrm>
            <a:off x="691896" y="237743"/>
            <a:ext cx="9144000" cy="72104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议程三：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Transformer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架构详解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4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Pytorch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5" name="副标题 2"/>
          <p:cNvSpPr>
            <a:spLocks noGrp="1"/>
          </p:cNvSpPr>
          <p:nvPr>
            <p:ph type="subTitle" idx="4294967295"/>
          </p:nvPr>
        </p:nvSpPr>
        <p:spPr>
          <a:xfrm>
            <a:off x="818388" y="1180387"/>
            <a:ext cx="10555224" cy="4909694"/>
          </a:xfrm>
          <a:prstGeom prst="rect">
            <a:avLst/>
          </a:prstGeo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二级子目录：全部都有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pytorch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SeqToSeq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编码器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(Encoder)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词向量及位置编码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多头自注意力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残差链接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层归一化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前馈网络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解码器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(Decoder):</a:t>
            </a:r>
          </a:p>
          <a:p>
            <a:pPr marL="0" indent="0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词向量及位置编码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多头自注意力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多头交叉注意力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残差链接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层归一化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前馈网络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2642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>
          <a:xfrm>
            <a:off x="691896" y="237743"/>
            <a:ext cx="9144000" cy="72104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议程四：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Transformer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具体应用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中翻英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4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Pytorch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5" name="副标题 2"/>
          <p:cNvSpPr>
            <a:spLocks noGrp="1"/>
          </p:cNvSpPr>
          <p:nvPr>
            <p:ph type="subTitle" idx="4294967295"/>
          </p:nvPr>
        </p:nvSpPr>
        <p:spPr>
          <a:xfrm>
            <a:off x="691896" y="1535494"/>
            <a:ext cx="10555224" cy="4261802"/>
          </a:xfrm>
          <a:prstGeom prst="rect">
            <a:avLst/>
          </a:prstGeo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二级子目录：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语料处理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训练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可视化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AutoNum type="arabicPeriod"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CheckPoint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超参数配置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609445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>
          <a:xfrm>
            <a:off x="691896" y="237743"/>
            <a:ext cx="9144000" cy="7210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议程五：结束语</a:t>
            </a:r>
          </a:p>
        </p:txBody>
      </p:sp>
      <p:sp>
        <p:nvSpPr>
          <p:cNvPr id="5" name="副标题 2"/>
          <p:cNvSpPr>
            <a:spLocks noGrp="1"/>
          </p:cNvSpPr>
          <p:nvPr>
            <p:ph type="subTitle" idx="4294967295"/>
          </p:nvPr>
        </p:nvSpPr>
        <p:spPr>
          <a:xfrm>
            <a:off x="691896" y="1535494"/>
            <a:ext cx="10555224" cy="4261802"/>
          </a:xfrm>
          <a:prstGeom prst="rect">
            <a:avLst/>
          </a:prstGeo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二级子目录：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95635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>
            <a:spLocks/>
          </p:cNvSpPr>
          <p:nvPr/>
        </p:nvSpPr>
        <p:spPr>
          <a:xfrm>
            <a:off x="691896" y="237743"/>
            <a:ext cx="9144000" cy="7210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2016-2024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八年产业深耕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DDCD04-58F8-20A7-BCC8-D2E6E44AC9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889961"/>
            <a:ext cx="822960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2399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>
          <a:xfrm>
            <a:off x="691896" y="237743"/>
            <a:ext cx="9144000" cy="7210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汽车电子咖啡厅，为创新而生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312" y="1020188"/>
            <a:ext cx="2960352" cy="526284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875242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691896" y="237743"/>
            <a:ext cx="9144000" cy="7210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汽车电子咖啡厅，研发智造加速器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7" t="24933" r="10883" b="14000"/>
          <a:stretch/>
        </p:blipFill>
        <p:spPr>
          <a:xfrm>
            <a:off x="4361687" y="1911096"/>
            <a:ext cx="3566161" cy="35661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24131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1183</TotalTime>
  <Words>902</Words>
  <Application>Microsoft Office PowerPoint</Application>
  <PresentationFormat>宽屏</PresentationFormat>
  <Paragraphs>140</Paragraphs>
  <Slides>28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34" baseType="lpstr">
      <vt:lpstr>微软雅黑</vt:lpstr>
      <vt:lpstr>Arial</vt:lpstr>
      <vt:lpstr>Wingdings</vt:lpstr>
      <vt:lpstr>Office 主题</vt:lpstr>
      <vt:lpstr>Equation</vt:lpstr>
      <vt:lpstr>MathType 7.0 Equation</vt:lpstr>
      <vt:lpstr>Transformer详解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董 勇发</dc:creator>
  <cp:lastModifiedBy>Administrator</cp:lastModifiedBy>
  <cp:revision>160</cp:revision>
  <dcterms:created xsi:type="dcterms:W3CDTF">2018-04-23T11:28:06Z</dcterms:created>
  <dcterms:modified xsi:type="dcterms:W3CDTF">2025-02-19T10:46:07Z</dcterms:modified>
</cp:coreProperties>
</file>